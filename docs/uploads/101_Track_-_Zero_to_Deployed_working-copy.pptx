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330" r:id="rId5"/>
    <p:sldId id="264" r:id="rId6"/>
    <p:sldId id="333" r:id="rId7"/>
    <p:sldId id="329" r:id="rId8"/>
    <p:sldId id="334" r:id="rId21"/>
    <p:sldId id="328" r:id="rId9"/>
    <p:sldId id="267" r:id="rId10"/>
    <p:sldId id="275" r:id="rId11"/>
    <p:sldId id="331" r:id="rId12"/>
    <p:sldId id="277" r:id="rId13"/>
    <p:sldId id="332" r:id="rId14"/>
    <p:sldId id="269" r:id="rId15"/>
    <p:sldId id="327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3"/>
  </p:normalViewPr>
  <p:slideViewPr>
    <p:cSldViewPr snapToGrid="0" snapToObjects="1">
      <p:cViewPr varScale="1">
        <p:scale>
          <a:sx n="152" d="100"/>
          <a:sy n="152" d="100"/>
        </p:scale>
        <p:origin x="672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94560"/>
            <a:ext cx="9144000" cy="777240"/>
          </a:xfrm>
          <a:prstGeom prst="rect">
            <a:avLst/>
          </a:prstGeom>
          <a:solidFill>
            <a:srgbClr val="3E2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40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Inter Tight"/>
              </a:rPr>
              <a:t>Zero to Deployed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9144000" cy="34747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035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A beginner’s guide to building a live web app with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503C"/>
                </a:solidFill>
                <a:latin typeface="Inter"/>
              </a:rPr>
              <a:t>SLOW VENTURES CREATOR FUND  ·  AI 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320040"/>
            <a:ext cx="8394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E2004"/>
                </a:solidFill>
                <a:latin typeface="Inter Tight"/>
              </a:rPr>
              <a:t>Today’s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Concept talks interleaved with hands-on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1. Anatomy of a web app — the building blocks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2. How data flows — the request/response cycle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3. Development workflow — how code gets to users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4. Hands-on setup — terminal, Claude Code, Git, IDE, database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5. Run it locally — your app on localhost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6. Deploy to production — your app live on the internet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7. Build a feature — using Claude Code to add something new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8. Authentication, APIs, and what’s possible — the bigger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320040"/>
            <a:ext cx="8394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3E2004"/>
                </a:solidFill>
                <a:latin typeface="Inter Tight"/>
              </a:rPr>
              <a:t>Anatomy of a Web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1005840"/>
            <a:ext cx="839419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FF5F00"/>
                </a:solidFill>
                <a:latin typeface="Inter"/>
              </a:rPr>
              <a:t>Instagram, Shopify, your banking app — same building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985" y="1449848"/>
            <a:ext cx="427740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dirty="0">
                <a:solidFill>
                  <a:srgbClr val="3E2004"/>
                </a:solidFill>
                <a:latin typeface="Inter"/>
              </a:rPr>
              <a:t>Frontend</a:t>
            </a:r>
            <a:endParaRPr lang="en-US" sz="1200" b="1" dirty="0">
              <a:solidFill>
                <a:srgbClr val="3E2004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3E2004"/>
                </a:solidFill>
                <a:latin typeface="Inter"/>
              </a:rPr>
              <a:t>what the user sees and clicks. Built with HTML, CSS, and JavaScript.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3E2004"/>
                </a:solidFill>
                <a:latin typeface="Inter"/>
              </a:rPr>
              <a:t>Backend</a:t>
            </a:r>
            <a:endParaRPr lang="en-US" sz="1200" b="1" dirty="0">
              <a:solidFill>
                <a:srgbClr val="3E2004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3E2004"/>
                </a:solidFill>
                <a:latin typeface="Inter"/>
              </a:rPr>
              <a:t>the brain. Receives requests, runs logic, talks to the database.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10840C-0031-3836-13DC-5A0694679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308" y="1254336"/>
            <a:ext cx="3437567" cy="1916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79CE-83EB-1A22-7605-FA97E8792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11B957-6AC7-D0EC-6DB0-B6CB9C0DF641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DF46E-90F0-AD20-9801-5F371AA1EB36}"/>
              </a:ext>
            </a:extLst>
          </p:cNvPr>
          <p:cNvSpPr txBox="1"/>
          <p:nvPr/>
        </p:nvSpPr>
        <p:spPr>
          <a:xfrm>
            <a:off x="374904" y="320040"/>
            <a:ext cx="83941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3E2004"/>
                </a:solidFill>
                <a:latin typeface="Inter Tight"/>
              </a:rPr>
              <a:t>The T3 Stack — Our Application Framework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FDB1EE-ADEA-11F8-0B2C-467B23342C83}"/>
              </a:ext>
            </a:extLst>
          </p:cNvPr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2E167-0116-0065-BF78-FF9347E854E1}"/>
              </a:ext>
            </a:extLst>
          </p:cNvPr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A modern, full-stack toolkit that helps us build and ship quickly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061B75-CEA2-AD1C-96DF-B5F8842B7DB6}"/>
              </a:ext>
            </a:extLst>
          </p:cNvPr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1. Next.js — builds the pages, server logic, and API routes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2. TypeScript — catches common mistakes before users see them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3. Tailwind CSS — helps us design polished interfaces quickly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4. Prisma — makes database work readable and type-safe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5. PostgreSQL + Neon — stores our app data safely online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6. Better Auth — handles sign-up, sign-in, and secure sessions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7. Vercel — publishes the app to a live HTTPS URL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2D6DEC-50F3-8C56-1DD2-3184CE86FBB5}"/>
              </a:ext>
            </a:extLst>
          </p:cNvPr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19979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182880"/>
            <a:ext cx="8394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E2004"/>
                </a:solidFill>
                <a:latin typeface="Inter Tight"/>
              </a:rPr>
              <a:t>What Happens When Someone Uses Your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6858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749808"/>
            <a:ext cx="8394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F00"/>
                </a:solidFill>
                <a:latin typeface="Inter"/>
              </a:rPr>
              <a:t>Every chat follows this path — here’s a real example using an AI chatbot</a:t>
            </a:r>
          </a:p>
        </p:txBody>
      </p:sp>
      <p:pic>
        <p:nvPicPr>
          <p:cNvPr id="6" name="Picture 5" descr="request-response-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143000"/>
            <a:ext cx="8394192" cy="37490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AE0B9-D18A-DE62-296E-920A9AD33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EF93E2-C66E-19D3-7794-333875ADA677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E8A21-AF01-C2E2-6A95-D800D67A5433}"/>
              </a:ext>
            </a:extLst>
          </p:cNvPr>
          <p:cNvSpPr txBox="1"/>
          <p:nvPr/>
        </p:nvSpPr>
        <p:spPr>
          <a:xfrm>
            <a:off x="374904" y="320040"/>
            <a:ext cx="83941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 err="1">
                <a:solidFill>
                  <a:srgbClr val="3E2004"/>
                </a:solidFill>
                <a:latin typeface="Inter Tight"/>
              </a:rPr>
              <a:t>Vercel</a:t>
            </a:r>
            <a:r>
              <a:rPr lang="en-US" sz="3000" b="1" dirty="0">
                <a:solidFill>
                  <a:srgbClr val="3E2004"/>
                </a:solidFill>
                <a:latin typeface="Inter Tight"/>
              </a:rPr>
              <a:t> — Your App on the Internet</a:t>
            </a:r>
            <a:endParaRPr sz="3000" b="1" dirty="0">
              <a:solidFill>
                <a:srgbClr val="3E2004"/>
              </a:solidFill>
              <a:latin typeface="Inter T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AAE7A-CC2E-C795-4C86-4C3C09E5CC8E}"/>
              </a:ext>
            </a:extLst>
          </p:cNvPr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218C9C-81D5-C116-FD42-6643E66E44B7}"/>
              </a:ext>
            </a:extLst>
          </p:cNvPr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Vercel is a cloud platform that builds, hosts, and securely delivers our Next.js app to people on the internet.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A49C3D-AB5D-5F9A-23A4-043A9FF38C89}"/>
              </a:ext>
            </a:extLst>
          </p:cNvPr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1. Hosts our app — turns our code into a live website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2. Builds from GitHub — uses the approved version of our code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3. Runs server-side code — logic and API calls stay off the browser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4. Keeps environment variables private — secrets never go in Git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5. Gives us HTTPS — a secure URL that people can visit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6. Shows deployment logs — helps us understand errors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7. Publishes production — the version we choose to share with users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7CD506-48C3-2B03-BF6C-54F8B107A68A}"/>
              </a:ext>
            </a:extLst>
          </p:cNvPr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63775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12D71-864C-2714-0AF4-8D606508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65F1B2-8CBF-C7BC-13CC-1DF391243020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34151-C48E-420F-B744-D62B31D99D67}"/>
              </a:ext>
            </a:extLst>
          </p:cNvPr>
          <p:cNvSpPr txBox="1"/>
          <p:nvPr/>
        </p:nvSpPr>
        <p:spPr>
          <a:xfrm>
            <a:off x="374904" y="320040"/>
            <a:ext cx="83941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3E2004"/>
                </a:solidFill>
                <a:latin typeface="Inter Tight"/>
              </a:rPr>
              <a:t>Neon — Your App’s Database</a:t>
            </a:r>
            <a:endParaRPr sz="3000" b="1" dirty="0">
              <a:solidFill>
                <a:srgbClr val="3E2004"/>
              </a:solidFill>
              <a:latin typeface="Inter T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50A4B-03F1-01D8-BA64-8077EF0F9FAF}"/>
              </a:ext>
            </a:extLst>
          </p:cNvPr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EB183-CAC3-FA5D-EF14-A54EACD1777A}"/>
              </a:ext>
            </a:extLst>
          </p:cNvPr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Neon is a managed cloud PostgreSQL database that safely stores the information our app needs to remember.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A2D49-C1DB-93A4-262B-B1827FA075B0}"/>
              </a:ext>
            </a:extLst>
          </p:cNvPr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1. Stores accounts, chat messages, and other app data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2. Remembers data after the browser is closed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3. Uses PostgreSQL — data is organized in connected tables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4. Works with Prisma — our app reads and writes data safely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5. Connects to Vercel securely — the browser never gets database access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6. Keeps local and production data separate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7. Uses reviewed migrations — safely evolves the data structure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5CEE42-67B7-3203-EB6C-0FF4FF8FD197}"/>
              </a:ext>
            </a:extLst>
          </p:cNvPr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22476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E53F2-7394-5556-7767-82D4C657C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07796A-0272-13BA-611A-C476756C45EC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5E097-4316-E70C-6254-86438BDE7F39}"/>
              </a:ext>
            </a:extLst>
          </p:cNvPr>
          <p:cNvSpPr txBox="1"/>
          <p:nvPr/>
        </p:nvSpPr>
        <p:spPr>
          <a:xfrm>
            <a:off x="374904" y="320040"/>
            <a:ext cx="8394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E2004"/>
                </a:solidFill>
                <a:latin typeface="Inter Tight"/>
              </a:rPr>
              <a:t>Traditional Software Development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9BDC6E-F4F6-A040-79D5-DBEA93A17F8A}"/>
              </a:ext>
            </a:extLst>
          </p:cNvPr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984AC-3437-6C3F-3C03-72D2E74BB059}"/>
              </a:ext>
            </a:extLst>
          </p:cNvPr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What professional teams do (and what we’re simplifying today)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AABD8-8458-532A-7688-7D93F7EAEBB8}"/>
              </a:ext>
            </a:extLst>
          </p:cNvPr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1. Check out the latest code from GitHub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2. Create a feature branch (a safe copy to work on)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3. Write code in an IDE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4. Run automated tests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5. Create a Pull Request (ask teammates to review)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6. Push to staging for QA testing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7. Deploy to production (make it live)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746F1B-C0F6-20F5-42EA-A1ACFA0F7747}"/>
              </a:ext>
            </a:extLst>
          </p:cNvPr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6621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320040"/>
            <a:ext cx="8394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E2004"/>
                </a:solidFill>
                <a:latin typeface="Inter Tight"/>
              </a:rPr>
              <a:t>Our Hackathon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Same idea, simplified for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" y="1554480"/>
            <a:ext cx="839419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1. Write code (by talking to Claude Code)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2. Test it locally (open localhost:3000 in your browser)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3. Save your progress</a:t>
            </a:r>
            <a:r>
              <a:rPr lang="en-US" sz="1400" b="0" dirty="0">
                <a:solidFill>
                  <a:srgbClr val="3E2004"/>
                </a:solidFill>
                <a:latin typeface="Inter"/>
              </a:rPr>
              <a:t> with git</a:t>
            </a:r>
            <a:r>
              <a:rPr sz="1400" b="0" dirty="0">
                <a:solidFill>
                  <a:srgbClr val="3E2004"/>
                </a:solidFill>
                <a:latin typeface="Inter"/>
              </a:rPr>
              <a:t> (/snapshot)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4. When it’s working, deploy </a:t>
            </a:r>
            <a:r>
              <a:rPr lang="en-US" sz="1400" b="0" dirty="0">
                <a:solidFill>
                  <a:srgbClr val="3E2004"/>
                </a:solidFill>
                <a:latin typeface="Inter"/>
              </a:rPr>
              <a:t>to </a:t>
            </a:r>
            <a:r>
              <a:rPr lang="en-US" sz="1400" b="0" dirty="0" err="1">
                <a:solidFill>
                  <a:srgbClr val="3E2004"/>
                </a:solidFill>
                <a:latin typeface="Inter"/>
              </a:rPr>
              <a:t>Vercel</a:t>
            </a:r>
            <a:r>
              <a:rPr lang="en-US" sz="1400" b="0" dirty="0">
                <a:solidFill>
                  <a:srgbClr val="3E2004"/>
                </a:solidFill>
                <a:latin typeface="Inter"/>
              </a:rPr>
              <a:t> </a:t>
            </a:r>
            <a:r>
              <a:rPr sz="1400" b="0" dirty="0">
                <a:solidFill>
                  <a:srgbClr val="3E2004"/>
                </a:solidFill>
                <a:latin typeface="Inter"/>
              </a:rPr>
              <a:t>(/deploy)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C16C9DF-30C0-868C-6632-980C1BB53E5C}"/>
              </a:ext>
            </a:extLst>
          </p:cNvPr>
          <p:cNvSpPr/>
          <p:nvPr/>
        </p:nvSpPr>
        <p:spPr>
          <a:xfrm>
            <a:off x="1600200" y="3156668"/>
            <a:ext cx="1645920" cy="1188720"/>
          </a:xfrm>
          <a:prstGeom prst="roundRect">
            <a:avLst>
              <a:gd name="adj" fmla="val 10000"/>
            </a:avLst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Tight"/>
              </a:rPr>
              <a:t>LOCAL
(your laptop)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0D8"/>
                </a:solidFill>
                <a:latin typeface="Inter"/>
              </a:rPr>
              <a:t>localhost:3000
Dev database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4369D0-8058-BAB5-2712-3E2F2D617426}"/>
              </a:ext>
            </a:extLst>
          </p:cNvPr>
          <p:cNvSpPr txBox="1"/>
          <p:nvPr/>
        </p:nvSpPr>
        <p:spPr>
          <a:xfrm>
            <a:off x="3291840" y="33852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E2004"/>
                </a:solidFill>
                <a:latin typeface="Inter"/>
              </a:rPr>
              <a:t>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E102F5-71EB-07B8-64F2-AF2D3CA72A63}"/>
              </a:ext>
            </a:extLst>
          </p:cNvPr>
          <p:cNvSpPr txBox="1"/>
          <p:nvPr/>
        </p:nvSpPr>
        <p:spPr>
          <a:xfrm>
            <a:off x="3200400" y="379674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503C"/>
                </a:solidFill>
                <a:latin typeface="Inter"/>
              </a:rPr>
              <a:t>git push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50F681B-144C-4741-9EBF-C9F2CBA22843}"/>
              </a:ext>
            </a:extLst>
          </p:cNvPr>
          <p:cNvSpPr/>
          <p:nvPr/>
        </p:nvSpPr>
        <p:spPr>
          <a:xfrm>
            <a:off x="3749040" y="3156668"/>
            <a:ext cx="1645920" cy="1188720"/>
          </a:xfrm>
          <a:prstGeom prst="roundRect">
            <a:avLst>
              <a:gd name="adj" fmla="val 10000"/>
            </a:avLst>
          </a:prstGeom>
          <a:solidFill>
            <a:srgbClr val="3E2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Tight"/>
              </a:rPr>
              <a:t>GITHUB
(code backup)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0D8"/>
                </a:solidFill>
                <a:latin typeface="Inter"/>
              </a:rPr>
              <a:t>Saves your code
Safety net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7D2A35-E125-447D-B518-C8F92C72ED2C}"/>
              </a:ext>
            </a:extLst>
          </p:cNvPr>
          <p:cNvSpPr txBox="1"/>
          <p:nvPr/>
        </p:nvSpPr>
        <p:spPr>
          <a:xfrm>
            <a:off x="5440680" y="33852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E2004"/>
                </a:solidFill>
                <a:latin typeface="Inter"/>
              </a:rPr>
              <a:t>→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375D16-78CC-4BE0-A0D3-7A92470A7329}"/>
              </a:ext>
            </a:extLst>
          </p:cNvPr>
          <p:cNvSpPr txBox="1"/>
          <p:nvPr/>
        </p:nvSpPr>
        <p:spPr>
          <a:xfrm>
            <a:off x="5349240" y="3796748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503C"/>
                </a:solidFill>
                <a:latin typeface="Inter"/>
              </a:rPr>
              <a:t>auto-deploy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043791C-BE70-A615-2FA7-6CA1A99BD5C0}"/>
              </a:ext>
            </a:extLst>
          </p:cNvPr>
          <p:cNvSpPr/>
          <p:nvPr/>
        </p:nvSpPr>
        <p:spPr>
          <a:xfrm>
            <a:off x="5897880" y="3156668"/>
            <a:ext cx="1645920" cy="1188720"/>
          </a:xfrm>
          <a:prstGeom prst="roundRect">
            <a:avLst>
              <a:gd name="adj" fmla="val 10000"/>
            </a:avLst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Inter Tight"/>
              </a:rPr>
              <a:t>VERCEL
(production)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0D8"/>
                </a:solidFill>
                <a:latin typeface="Inter"/>
              </a:rPr>
              <a:t>yourapp.vercel.app
Prod database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320040"/>
            <a:ext cx="8394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E2004"/>
                </a:solidFill>
                <a:latin typeface="Inter Tight"/>
              </a:rPr>
              <a:t>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Not a chatbot — an AI agent that takes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" y="15544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Lives in your terminal — you describe what you want, it writes the code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It can read files, write files, run commands, and search the web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You approve what it does — it asks before making changes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CLAUDE.md tells Claude about your project (already set up in the template)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Slash commands: pre-built prompts for common tasks</a:t>
            </a:r>
          </a:p>
          <a:p>
            <a:pPr>
              <a:spcAft>
                <a:spcPts val="400"/>
              </a:spcAft>
            </a:pPr>
            <a:endParaRPr sz="1400" b="0">
              <a:solidFill>
                <a:srgbClr val="3E2004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Type claude in your terminal to start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7AA6-319D-F3B4-94C0-44C8149F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91B048-5411-64EE-7133-6BA1AF33C2D8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D5558-1018-1775-22C7-5C0A5C21E77A}"/>
              </a:ext>
            </a:extLst>
          </p:cNvPr>
          <p:cNvSpPr txBox="1"/>
          <p:nvPr/>
        </p:nvSpPr>
        <p:spPr>
          <a:xfrm>
            <a:off x="374904" y="320040"/>
            <a:ext cx="83941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3E2004"/>
                </a:solidFill>
                <a:latin typeface="Inter Tight"/>
              </a:rPr>
              <a:t>Working with Claude</a:t>
            </a:r>
            <a:endParaRPr sz="3000" b="1" dirty="0">
              <a:solidFill>
                <a:srgbClr val="3E2004"/>
              </a:solidFill>
              <a:latin typeface="Inter T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5E2C3A-92F4-036B-EBFE-53C45531813C}"/>
              </a:ext>
            </a:extLst>
          </p:cNvPr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D15A6-87A2-FD92-25AA-631D642ED87B}"/>
              </a:ext>
            </a:extLst>
          </p:cNvPr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Same idea, simplified for speed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C4FA3-3C40-E7C9-0D8F-C19777C67ADD}"/>
              </a:ext>
            </a:extLst>
          </p:cNvPr>
          <p:cNvSpPr txBox="1"/>
          <p:nvPr/>
        </p:nvSpPr>
        <p:spPr>
          <a:xfrm>
            <a:off x="374904" y="1554480"/>
            <a:ext cx="839419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1. Write code (by talking to Claude Code)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2. Test it locally (open localhost:3000 in your browser)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3. Save your progress</a:t>
            </a:r>
            <a:r>
              <a:rPr lang="en-US" sz="1400" b="0" dirty="0">
                <a:solidFill>
                  <a:srgbClr val="3E2004"/>
                </a:solidFill>
                <a:latin typeface="Inter"/>
              </a:rPr>
              <a:t> with git</a:t>
            </a:r>
            <a:r>
              <a:rPr sz="1400" b="0" dirty="0">
                <a:solidFill>
                  <a:srgbClr val="3E2004"/>
                </a:solidFill>
                <a:latin typeface="Inter"/>
              </a:rPr>
              <a:t> (/snapshot)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E2004"/>
                </a:solidFill>
                <a:latin typeface="Inter"/>
              </a:rPr>
              <a:t>4. When it’s working, deploy </a:t>
            </a:r>
            <a:r>
              <a:rPr lang="en-US" sz="1400" b="0" dirty="0">
                <a:solidFill>
                  <a:srgbClr val="3E2004"/>
                </a:solidFill>
                <a:latin typeface="Inter"/>
              </a:rPr>
              <a:t>to </a:t>
            </a:r>
            <a:r>
              <a:rPr lang="en-US" sz="1400" b="0" dirty="0" err="1">
                <a:solidFill>
                  <a:srgbClr val="3E2004"/>
                </a:solidFill>
                <a:latin typeface="Inter"/>
              </a:rPr>
              <a:t>Vercel</a:t>
            </a:r>
            <a:r>
              <a:rPr lang="en-US" sz="1400" b="0" dirty="0">
                <a:solidFill>
                  <a:srgbClr val="3E2004"/>
                </a:solidFill>
                <a:latin typeface="Inter"/>
              </a:rPr>
              <a:t> </a:t>
            </a:r>
            <a:r>
              <a:rPr sz="1400" b="0" dirty="0">
                <a:solidFill>
                  <a:srgbClr val="3E2004"/>
                </a:solidFill>
                <a:latin typeface="Inter"/>
              </a:rPr>
              <a:t>(/deploy)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9951A5-0D6F-0BE8-4380-2F04CD0D0B31}"/>
              </a:ext>
            </a:extLst>
          </p:cNvPr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49797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320040"/>
            <a:ext cx="8394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E2004"/>
                </a:solidFill>
                <a:latin typeface="Inter Tight"/>
              </a:rPr>
              <a:t>Tips for Talking to Claude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Better prompts = better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Be specific: "Add a grid of 3 cards showing the meme image, caption, and date"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Give context: "I’m building a cat meme generator for creators"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Iterate: "Make it bigger" → "Change the font" → "Add a spinner"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Use screenshots: paste a design you like and say "make it look like this"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When stuck: paste the error message — Claude is great at debugging</a:t>
            </a:r>
          </a:p>
          <a:p>
            <a:pPr>
              <a:spcAft>
                <a:spcPts val="400"/>
              </a:spcAft>
            </a:pPr>
            <a:endParaRPr sz="1400" b="0">
              <a:solidFill>
                <a:srgbClr val="3E2004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Think of Claude as a smart collaborator, not a magic box.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C184-4CED-777A-BF34-C4366631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C25135-3562-4465-9AC3-6DB6C909A9AC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B5867-3A6B-1F85-2694-4EE6FCD24895}"/>
              </a:ext>
            </a:extLst>
          </p:cNvPr>
          <p:cNvSpPr txBox="1"/>
          <p:nvPr/>
        </p:nvSpPr>
        <p:spPr>
          <a:xfrm>
            <a:off x="374904" y="320040"/>
            <a:ext cx="83941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3E2004"/>
                </a:solidFill>
                <a:latin typeface="Inter Tight"/>
              </a:rPr>
              <a:t>Your Loop</a:t>
            </a:r>
            <a:endParaRPr sz="3000" b="1" dirty="0">
              <a:solidFill>
                <a:srgbClr val="3E2004"/>
              </a:solidFill>
              <a:latin typeface="Inter T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2435A7-8D57-CB6D-F484-46C98AC880BA}"/>
              </a:ext>
            </a:extLst>
          </p:cNvPr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0DBCB-3978-57D9-7908-453D9B6A0130}"/>
              </a:ext>
            </a:extLst>
          </p:cNvPr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Same idea, simplified for speed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54F19-FC88-B560-F037-5E4ECEB8FDA2}"/>
              </a:ext>
            </a:extLst>
          </p:cNvPr>
          <p:cNvSpPr txBox="1"/>
          <p:nvPr/>
        </p:nvSpPr>
        <p:spPr>
          <a:xfrm>
            <a:off x="374904" y="1554480"/>
            <a:ext cx="839419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0" dirty="0">
                <a:solidFill>
                  <a:srgbClr val="3E2004"/>
                </a:solidFill>
                <a:latin typeface="Inter"/>
              </a:rPr>
              <a:t>Research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E2004"/>
                </a:solidFill>
                <a:latin typeface="Inter"/>
              </a:rPr>
              <a:t>Requirements</a:t>
            </a:r>
          </a:p>
          <a:p>
            <a:pPr>
              <a:spcAft>
                <a:spcPts val="400"/>
              </a:spcAft>
            </a:pPr>
            <a:r>
              <a:rPr lang="en-US" sz="1400" b="0" dirty="0">
                <a:solidFill>
                  <a:srgbClr val="3E2004"/>
                </a:solidFill>
                <a:latin typeface="Inter"/>
              </a:rPr>
              <a:t>Plan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3E2004"/>
                </a:solidFill>
                <a:latin typeface="Inter"/>
              </a:rPr>
              <a:t>Execute</a:t>
            </a:r>
            <a:endParaRPr sz="1400" b="0" dirty="0">
              <a:solidFill>
                <a:srgbClr val="3E2004"/>
              </a:solidFill>
              <a:latin typeface="In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7048DC-EE56-EBD3-66BE-F1FE6661D439}"/>
              </a:ext>
            </a:extLst>
          </p:cNvPr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46373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1371600"/>
            <a:ext cx="83941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3E2004"/>
                </a:solidFill>
                <a:latin typeface="Inter Tight"/>
              </a:rPr>
              <a:t>Let’s Get Set Up!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25146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2651760"/>
            <a:ext cx="8394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5F00"/>
                </a:solidFill>
                <a:latin typeface="Inter"/>
              </a:rPr>
              <a:t>Follow along — we’ll do each step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F6A42-99C3-4A1C-171F-C4610B06D988}"/>
              </a:ext>
            </a:extLst>
          </p:cNvPr>
          <p:cNvSpPr txBox="1"/>
          <p:nvPr/>
        </p:nvSpPr>
        <p:spPr>
          <a:xfrm>
            <a:off x="1518699" y="3824577"/>
            <a:ext cx="558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TanookiLabs</a:t>
            </a:r>
            <a:r>
              <a:rPr lang="en-US" dirty="0"/>
              <a:t>/hackathon-starter-</a:t>
            </a:r>
            <a:r>
              <a:rPr lang="en-US" dirty="0" err="1"/>
              <a:t>nextjs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15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904" y="320040"/>
            <a:ext cx="8394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3E2004"/>
                </a:solidFill>
                <a:latin typeface="Inter Tight"/>
              </a:rPr>
              <a:t>Getting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You’re not alone — we’re here all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Raise your hand — TAs are circulating and happy to help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Ask Claude — paste your error, describe what’s wrong, it’ll debug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Check the README — setup guides and reference docs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Talk to each other — someone nearby might have hit the same issue</a:t>
            </a:r>
          </a:p>
          <a:p>
            <a:pPr>
              <a:spcAft>
                <a:spcPts val="400"/>
              </a:spcAft>
            </a:pPr>
            <a:endParaRPr sz="1400" b="0">
              <a:solidFill>
                <a:srgbClr val="3E2004"/>
              </a:solidFill>
              <a:latin typeface="Inter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The only bad question is the one you don’t 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12D71-864C-2714-0AF4-8D606508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65F1B2-8CBF-C7BC-13CC-1DF391243020}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34151-C48E-420F-B744-D62B31D99D67}"/>
              </a:ext>
            </a:extLst>
          </p:cNvPr>
          <p:cNvSpPr txBox="1"/>
          <p:nvPr/>
        </p:nvSpPr>
        <p:spPr>
          <a:xfrm>
            <a:off x="374904" y="320040"/>
            <a:ext cx="83941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3E2004"/>
                </a:solidFill>
                <a:latin typeface="Inter Tight"/>
              </a:rPr>
              <a:t>OpenRouter — Your AI Model Gateway</a:t>
            </a:r>
            <a:endParaRPr sz="3000" b="1" dirty="0">
              <a:solidFill>
                <a:srgbClr val="3E2004"/>
              </a:solidFill>
              <a:latin typeface="Inter T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50A4B-03F1-01D8-BA64-8077EF0F9FAF}"/>
              </a:ext>
            </a:extLst>
          </p:cNvPr>
          <p:cNvSpPr/>
          <p:nvPr/>
        </p:nvSpPr>
        <p:spPr>
          <a:xfrm>
            <a:off x="374904" y="914400"/>
            <a:ext cx="603504" cy="27432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EB183-CAC3-FA5D-EF14-A54EACD1777A}"/>
              </a:ext>
            </a:extLst>
          </p:cNvPr>
          <p:cNvSpPr txBox="1"/>
          <p:nvPr/>
        </p:nvSpPr>
        <p:spPr>
          <a:xfrm>
            <a:off x="374904" y="1005840"/>
            <a:ext cx="8394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00"/>
                </a:solidFill>
                <a:latin typeface="Inter"/>
              </a:rPr>
              <a:t>OpenRouter is one API that gives our app access to many AI models for text, images, and other AI-powered features.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A2D49-C1DB-93A4-262B-B1827FA075B0}"/>
              </a:ext>
            </a:extLst>
          </p:cNvPr>
          <p:cNvSpPr txBox="1"/>
          <p:nvPr/>
        </p:nvSpPr>
        <p:spPr>
          <a:xfrm>
            <a:off x="374904" y="1554480"/>
            <a:ext cx="83941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1. Connects our app to many AI models through one API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2. Lets us choose the right model for each feature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3. Can generate text for chatbots, writing, and summaries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4. Can generate images and support other AI capabilities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5. Keeps model API keys on the Vercel server, not in the browser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6. Gives us a consistent way to switch or compare models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E2004"/>
                </a:solidFill>
                <a:latin typeface="Inter"/>
              </a:rPr>
              <a:t>7. Returns the model response for our app to show the user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5CEE42-67B7-3203-EB6C-0FF4FF8FD197}"/>
              </a:ext>
            </a:extLst>
          </p:cNvPr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FF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2247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2374</TotalTime>
  <Words>961</Words>
  <Application>Microsoft Macintosh PowerPoint</Application>
  <PresentationFormat>On-screen Show (16:9)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Inter</vt:lpstr>
      <vt:lpstr>Inter Tight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Dave Renz</cp:lastModifiedBy>
  <cp:revision>4</cp:revision>
  <dcterms:created xsi:type="dcterms:W3CDTF">2013-01-27T09:14:16Z</dcterms:created>
  <dcterms:modified xsi:type="dcterms:W3CDTF">2026-09-09T09:49:33Z</dcterms:modified>
  <cp:category/>
</cp:coreProperties>
</file>